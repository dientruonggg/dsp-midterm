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IBM Plex Mono Bold" charset="1" panose="020B0809050203000203"/>
      <p:regular r:id="rId27"/>
    </p:embeddedFont>
    <p:embeddedFont>
      <p:font typeface="Montserrat Bold" charset="1" panose="00000800000000000000"/>
      <p:regular r:id="rId28"/>
    </p:embeddedFont>
    <p:embeddedFont>
      <p:font typeface="Open Sans" charset="1" panose="00000000000000000000"/>
      <p:regular r:id="rId29"/>
    </p:embeddedFont>
    <p:embeddedFont>
      <p:font typeface="IBM Plex Mono" charset="1" panose="020B0509050203000203"/>
      <p:regular r:id="rId30"/>
    </p:embeddedFont>
    <p:embeddedFont>
      <p:font typeface="Open Sans Bold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572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98" strike="noStrike" u="none">
                <a:solidFill>
                  <a:srgbClr val="30A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DSP MIDTERM PROJECT REPORT ·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895475"/>
            <a:ext cx="9334500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75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VOICE ACTIVITY</a:t>
            </a:r>
          </a:p>
          <a:p>
            <a:pPr algn="l" marL="0" indent="0" lvl="0">
              <a:lnSpc>
                <a:spcPts val="7875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DETECTION (VAD)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4171950"/>
            <a:ext cx="7620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Three Algorithms · One Evaluation Benchmark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6572250"/>
            <a:ext cx="4953000" cy="1981200"/>
            <a:chOff x="0" y="0"/>
            <a:chExt cx="6604000" cy="2641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604000" cy="2641600"/>
              <a:chOff x="0" y="0"/>
              <a:chExt cx="6604000" cy="26416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04000" cy="2641600"/>
              </a:xfrm>
              <a:custGeom>
                <a:avLst/>
                <a:gdLst/>
                <a:ahLst/>
                <a:cxnLst/>
                <a:rect r="r" b="b" t="t" l="l"/>
                <a:pathLst>
                  <a:path h="26416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641600"/>
                    </a:lnTo>
                    <a:lnTo>
                      <a:pt x="0" y="2641600"/>
                    </a:lnTo>
                    <a:close/>
                  </a:path>
                </a:pathLst>
              </a:custGeom>
              <a:solidFill>
                <a:srgbClr val="30A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604000" cy="267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55600" y="378446"/>
              <a:ext cx="2662411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79">
                  <a:solidFill>
                    <a:srgbClr val="07192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Luong Duy Toan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55600" y="1085850"/>
              <a:ext cx="5952397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0719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Alg 1 · Hodgkinson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43650" y="6572250"/>
            <a:ext cx="4953000" cy="1981200"/>
            <a:chOff x="0" y="0"/>
            <a:chExt cx="6604000" cy="264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0" cy="2641600"/>
            </a:xfrm>
            <a:custGeom>
              <a:avLst/>
              <a:gdLst/>
              <a:ahLst/>
              <a:cxnLst/>
              <a:rect r="r" b="b" t="t" l="l"/>
              <a:pathLst>
                <a:path h="26416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641600"/>
                  </a:lnTo>
                  <a:lnTo>
                    <a:pt x="0" y="2641600"/>
                  </a:ln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604000" cy="267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29400" y="6829425"/>
            <a:ext cx="226077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pc="179">
                <a:solidFill>
                  <a:srgbClr val="07192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Nguyen Anh Hoang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29400" y="7400925"/>
            <a:ext cx="43815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0719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 2 · Histogram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772900" y="6572250"/>
            <a:ext cx="4953000" cy="1981200"/>
            <a:chOff x="0" y="0"/>
            <a:chExt cx="6604000" cy="26416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604000" cy="2641600"/>
              <a:chOff x="0" y="0"/>
              <a:chExt cx="6604000" cy="26416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4000" cy="2641600"/>
              </a:xfrm>
              <a:custGeom>
                <a:avLst/>
                <a:gdLst/>
                <a:ahLst/>
                <a:cxnLst/>
                <a:rect r="r" b="b" t="t" l="l"/>
                <a:pathLst>
                  <a:path h="26416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2641600"/>
                    </a:lnTo>
                    <a:lnTo>
                      <a:pt x="0" y="2641600"/>
                    </a:lnTo>
                    <a:close/>
                  </a:path>
                </a:pathLst>
              </a:custGeom>
              <a:solidFill>
                <a:srgbClr val="C4F7C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4000" cy="267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55600" y="352425"/>
              <a:ext cx="2825035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79">
                  <a:solidFill>
                    <a:srgbClr val="07192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Truong Bui Dien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81000" y="890695"/>
              <a:ext cx="5842000" cy="1304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0719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Alg 3 · Gaussian Bayes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GROUP 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SHARED ARCHITECTURE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Our Shared</a:t>
              </a: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Pipeline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3524250"/>
            <a:ext cx="2000250" cy="1285875"/>
            <a:chOff x="0" y="0"/>
            <a:chExt cx="2667000" cy="1714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67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1605643"/>
                  </a:lnTo>
                  <a:cubicBezTo>
                    <a:pt x="2667000" y="1634514"/>
                    <a:pt x="2655531" y="1662202"/>
                    <a:pt x="2635116" y="1682616"/>
                  </a:cubicBezTo>
                  <a:cubicBezTo>
                    <a:pt x="2614702" y="1703031"/>
                    <a:pt x="2587014" y="1714500"/>
                    <a:pt x="2558143" y="1714500"/>
                  </a:cubicBezTo>
                  <a:lnTo>
                    <a:pt x="108857" y="1714500"/>
                  </a:lnTo>
                  <a:cubicBezTo>
                    <a:pt x="79986" y="1714500"/>
                    <a:pt x="52298" y="1703031"/>
                    <a:pt x="31884" y="1682616"/>
                  </a:cubicBezTo>
                  <a:cubicBezTo>
                    <a:pt x="11469" y="1662202"/>
                    <a:pt x="0" y="1634514"/>
                    <a:pt x="0" y="16056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2667000" cy="169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WAV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 kHz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2667000" y="4171950"/>
            <a:ext cx="4095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3171825" y="3524250"/>
            <a:ext cx="2000250" cy="1285875"/>
            <a:chOff x="0" y="0"/>
            <a:chExt cx="2667000" cy="1714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7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1605643"/>
                  </a:lnTo>
                  <a:cubicBezTo>
                    <a:pt x="2667000" y="1634514"/>
                    <a:pt x="2655531" y="1662202"/>
                    <a:pt x="2635116" y="1682616"/>
                  </a:cubicBezTo>
                  <a:cubicBezTo>
                    <a:pt x="2614702" y="1703031"/>
                    <a:pt x="2587014" y="1714500"/>
                    <a:pt x="2558143" y="1714500"/>
                  </a:cubicBezTo>
                  <a:lnTo>
                    <a:pt x="108857" y="1714500"/>
                  </a:lnTo>
                  <a:cubicBezTo>
                    <a:pt x="79986" y="1714500"/>
                    <a:pt x="52298" y="1703031"/>
                    <a:pt x="31884" y="1682616"/>
                  </a:cubicBezTo>
                  <a:cubicBezTo>
                    <a:pt x="11469" y="1662202"/>
                    <a:pt x="0" y="1634514"/>
                    <a:pt x="0" y="16056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667000" cy="169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Peak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Normalization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172075" y="4171950"/>
            <a:ext cx="4095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5676900" y="3524250"/>
            <a:ext cx="2000250" cy="1285875"/>
            <a:chOff x="0" y="0"/>
            <a:chExt cx="2667000" cy="1714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7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1605643"/>
                  </a:lnTo>
                  <a:cubicBezTo>
                    <a:pt x="2667000" y="1634514"/>
                    <a:pt x="2655531" y="1662202"/>
                    <a:pt x="2635116" y="1682616"/>
                  </a:cubicBezTo>
                  <a:cubicBezTo>
                    <a:pt x="2614702" y="1703031"/>
                    <a:pt x="2587014" y="1714500"/>
                    <a:pt x="2558143" y="1714500"/>
                  </a:cubicBezTo>
                  <a:lnTo>
                    <a:pt x="108857" y="1714500"/>
                  </a:lnTo>
                  <a:cubicBezTo>
                    <a:pt x="79986" y="1714500"/>
                    <a:pt x="52298" y="1703031"/>
                    <a:pt x="31884" y="1682616"/>
                  </a:cubicBezTo>
                  <a:cubicBezTo>
                    <a:pt x="11469" y="1662202"/>
                    <a:pt x="0" y="1634514"/>
                    <a:pt x="0" y="16056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667000" cy="169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Framing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25 ms / 10 ms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7677150" y="4171950"/>
            <a:ext cx="4095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8181975" y="3524250"/>
            <a:ext cx="2000250" cy="1285875"/>
            <a:chOff x="0" y="0"/>
            <a:chExt cx="2667000" cy="1714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67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1605643"/>
                  </a:lnTo>
                  <a:cubicBezTo>
                    <a:pt x="2667000" y="1634514"/>
                    <a:pt x="2655531" y="1662202"/>
                    <a:pt x="2635116" y="1682616"/>
                  </a:cubicBezTo>
                  <a:cubicBezTo>
                    <a:pt x="2614702" y="1703031"/>
                    <a:pt x="2587014" y="1714500"/>
                    <a:pt x="2558143" y="1714500"/>
                  </a:cubicBezTo>
                  <a:lnTo>
                    <a:pt x="108857" y="1714500"/>
                  </a:lnTo>
                  <a:cubicBezTo>
                    <a:pt x="79986" y="1714500"/>
                    <a:pt x="52298" y="1703031"/>
                    <a:pt x="31884" y="1682616"/>
                  </a:cubicBezTo>
                  <a:cubicBezTo>
                    <a:pt x="11469" y="1662202"/>
                    <a:pt x="0" y="1634514"/>
                    <a:pt x="0" y="16056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2667000" cy="169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Feature: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STE Energy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0182225" y="4171950"/>
            <a:ext cx="4095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0687050" y="3524250"/>
            <a:ext cx="2000250" cy="1285875"/>
            <a:chOff x="0" y="0"/>
            <a:chExt cx="2667000" cy="1714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67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1605643"/>
                  </a:lnTo>
                  <a:cubicBezTo>
                    <a:pt x="2667000" y="1634514"/>
                    <a:pt x="2655531" y="1662202"/>
                    <a:pt x="2635116" y="1682616"/>
                  </a:cubicBezTo>
                  <a:cubicBezTo>
                    <a:pt x="2614702" y="1703031"/>
                    <a:pt x="2587014" y="1714500"/>
                    <a:pt x="2558143" y="1714500"/>
                  </a:cubicBezTo>
                  <a:lnTo>
                    <a:pt x="108857" y="1714500"/>
                  </a:lnTo>
                  <a:cubicBezTo>
                    <a:pt x="79986" y="1714500"/>
                    <a:pt x="52298" y="1703031"/>
                    <a:pt x="31884" y="1682616"/>
                  </a:cubicBezTo>
                  <a:cubicBezTo>
                    <a:pt x="11469" y="1662202"/>
                    <a:pt x="0" y="1634514"/>
                    <a:pt x="0" y="16056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C4F7CA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2667000" cy="169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TT1 / TT2 / TT3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2687300" y="4171950"/>
            <a:ext cx="4095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3192125" y="3524250"/>
            <a:ext cx="2000250" cy="1285875"/>
            <a:chOff x="0" y="0"/>
            <a:chExt cx="2667000" cy="1714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67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1605643"/>
                  </a:lnTo>
                  <a:cubicBezTo>
                    <a:pt x="2667000" y="1634514"/>
                    <a:pt x="2655531" y="1662202"/>
                    <a:pt x="2635116" y="1682616"/>
                  </a:cubicBezTo>
                  <a:cubicBezTo>
                    <a:pt x="2614702" y="1703031"/>
                    <a:pt x="2587014" y="1714500"/>
                    <a:pt x="2558143" y="1714500"/>
                  </a:cubicBezTo>
                  <a:lnTo>
                    <a:pt x="108857" y="1714500"/>
                  </a:lnTo>
                  <a:cubicBezTo>
                    <a:pt x="79986" y="1714500"/>
                    <a:pt x="52298" y="1703031"/>
                    <a:pt x="31884" y="1682616"/>
                  </a:cubicBezTo>
                  <a:cubicBezTo>
                    <a:pt x="11469" y="1662202"/>
                    <a:pt x="0" y="1634514"/>
                    <a:pt x="0" y="16056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2667000" cy="169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Post-Process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200ms Bridge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5192375" y="4171950"/>
            <a:ext cx="4095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5697200" y="3524250"/>
            <a:ext cx="2000250" cy="1285875"/>
            <a:chOff x="0" y="0"/>
            <a:chExt cx="2667000" cy="1714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67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1605643"/>
                  </a:lnTo>
                  <a:cubicBezTo>
                    <a:pt x="2667000" y="1634514"/>
                    <a:pt x="2655531" y="1662202"/>
                    <a:pt x="2635116" y="1682616"/>
                  </a:cubicBezTo>
                  <a:cubicBezTo>
                    <a:pt x="2614702" y="1703031"/>
                    <a:pt x="2587014" y="1714500"/>
                    <a:pt x="2558143" y="1714500"/>
                  </a:cubicBezTo>
                  <a:lnTo>
                    <a:pt x="108857" y="1714500"/>
                  </a:lnTo>
                  <a:cubicBezTo>
                    <a:pt x="79986" y="1714500"/>
                    <a:pt x="52298" y="1703031"/>
                    <a:pt x="31884" y="1682616"/>
                  </a:cubicBezTo>
                  <a:cubicBezTo>
                    <a:pt x="11469" y="1662202"/>
                    <a:pt x="0" y="1634514"/>
                    <a:pt x="0" y="16056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2667000" cy="1695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VAD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 / 1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190750" y="6162675"/>
            <a:ext cx="13906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5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Standard: 16 kHz Mono · Normalized STE · Ground-Truth Labels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67000" y="6915150"/>
            <a:ext cx="12954000" cy="32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1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Unified Output Pipeline → Objective MAE &amp; RMSE Benchmark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GROUP 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906000" y="0"/>
            <a:ext cx="8382000" cy="10287000"/>
            <a:chOff x="0" y="0"/>
            <a:chExt cx="11176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7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176000">
                  <a:moveTo>
                    <a:pt x="0" y="0"/>
                  </a:moveTo>
                  <a:lnTo>
                    <a:pt x="11176000" y="0"/>
                  </a:lnTo>
                  <a:lnTo>
                    <a:pt x="1117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923">
                <a:alpha val="1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176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5811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98" strike="noStrike" u="none">
                <a:solidFill>
                  <a:srgbClr val="30A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STUDENT 1 · ALGORITHM 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2571750"/>
            <a:ext cx="8096250" cy="259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72"/>
              </a:lnSpc>
              <a:spcBef>
                <a:spcPct val="0"/>
              </a:spcBef>
            </a:pPr>
            <a:r>
              <a:rPr lang="en-US" b="true" sz="645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FIXED GLOBAL</a:t>
            </a:r>
          </a:p>
          <a:p>
            <a:pPr algn="l" marL="0" indent="0" lvl="0">
              <a:lnSpc>
                <a:spcPts val="6772"/>
              </a:lnSpc>
              <a:spcBef>
                <a:spcPct val="0"/>
              </a:spcBef>
            </a:pPr>
            <a:r>
              <a:rPr lang="en-US" b="true" sz="645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ENERGY THRESHOLD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5171122"/>
            <a:ext cx="6858000" cy="38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Hodgkinson (2012) · Binary 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6172200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Objective: Optimize single threshold T_opt</a:t>
            </a:r>
          </a:p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across 4 training audio signals.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657225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ALG 1 · CORE METHOD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Binary Search Optimization for T_opt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62000" y="3000375"/>
            <a:ext cx="2286000" cy="1238250"/>
            <a:chOff x="0" y="0"/>
            <a:chExt cx="3048000" cy="165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3048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Pool 4 Train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Audio Files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048000" y="3619500"/>
            <a:ext cx="476250" cy="200025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3619500" y="5000625"/>
            <a:ext cx="2286000" cy="1238250"/>
            <a:chOff x="0" y="0"/>
            <a:chExt cx="3048000" cy="165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3048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Initialize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T_low · T_high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5905500" y="3619500"/>
            <a:ext cx="476250" cy="200025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6477000" y="3000375"/>
            <a:ext cx="2286000" cy="1238250"/>
            <a:chOff x="0" y="0"/>
            <a:chExt cx="3048000" cy="165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3048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T_mid =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(low + high)/2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763000" y="3619500"/>
            <a:ext cx="476250" cy="200025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9334500" y="5000625"/>
            <a:ext cx="2286000" cy="1238250"/>
            <a:chOff x="0" y="0"/>
            <a:chExt cx="3048000" cy="165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3048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Run VAD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Compute Loss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1620500" y="3619500"/>
            <a:ext cx="476250" cy="200025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2192000" y="3000375"/>
            <a:ext cx="2286000" cy="1238250"/>
            <a:chOff x="0" y="0"/>
            <a:chExt cx="3048000" cy="165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3048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Update Best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Half Interval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4478000" y="3619500"/>
            <a:ext cx="476250" cy="200025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5049500" y="5000625"/>
            <a:ext cx="2286000" cy="1238250"/>
            <a:chOff x="0" y="0"/>
            <a:chExt cx="3048000" cy="1651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555750"/>
                  </a:lnTo>
                  <a:cubicBezTo>
                    <a:pt x="3048000" y="1608355"/>
                    <a:pt x="3005355" y="1651000"/>
                    <a:pt x="2952750" y="1651000"/>
                  </a:cubicBezTo>
                  <a:lnTo>
                    <a:pt x="95250" y="1651000"/>
                  </a:lnTo>
                  <a:cubicBezTo>
                    <a:pt x="42645" y="1651000"/>
                    <a:pt x="0" y="1608355"/>
                    <a:pt x="0" y="1555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C4F7CA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3048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Converge at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ΔT &lt; ε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857500" y="7515225"/>
            <a:ext cx="12573000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Objective Cost: J(T) = (1/4) * Σ MAE_k(T) → T_opt ≈ 0.0026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ALG 1 · EXPERIMENTS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Accuracy on Matched Noise Levels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1737" y="1395046"/>
            <a:ext cx="12720272" cy="7782657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4681571" y="2455069"/>
            <a:ext cx="2965638" cy="1569720"/>
            <a:chOff x="0" y="0"/>
            <a:chExt cx="3954184" cy="209296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3514831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C4F7C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ACCURATE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52450"/>
              <a:ext cx="3954184" cy="1540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F5FBFF"/>
                  </a:solidFill>
                  <a:latin typeface="Open Sans"/>
                  <a:ea typeface="Open Sans"/>
                  <a:cs typeface="Open Sans"/>
                  <a:sym typeface="Open Sans"/>
                </a:rPr>
                <a:t>Sharp boundaries</a:t>
              </a:r>
            </a:p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F5FBFF"/>
                  </a:solidFill>
                  <a:latin typeface="Open Sans"/>
                  <a:ea typeface="Open Sans"/>
                  <a:cs typeface="Open Sans"/>
                  <a:sym typeface="Open Sans"/>
                </a:rPr>
                <a:t>Matches Ground-Truth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68500" y="6042121"/>
            <a:ext cx="2978710" cy="1179195"/>
            <a:chOff x="0" y="0"/>
            <a:chExt cx="3971613" cy="157226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323253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LIMITATION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52450"/>
              <a:ext cx="3971613" cy="1019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F5FBFF"/>
                  </a:solidFill>
                  <a:latin typeface="Open Sans"/>
                  <a:ea typeface="Open Sans"/>
                  <a:cs typeface="Open Sans"/>
                  <a:sym typeface="Open Sans"/>
                </a:rPr>
                <a:t>Fixed threshold</a:t>
              </a:r>
            </a:p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F5FBFF"/>
                  </a:solidFill>
                  <a:latin typeface="Open Sans"/>
                  <a:ea typeface="Open Sans"/>
                  <a:cs typeface="Open Sans"/>
                  <a:sym typeface="Open Sans"/>
                </a:rPr>
                <a:t>Fails under SNR shift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name="Freeform 15" id="15" descr="Đồ thị phân đoạn 4 tệp kiểm thử TT1 Hodgkinson (phone_F2, phone_M2, studio_F2, studio_M2)"/>
          <p:cNvSpPr/>
          <p:nvPr/>
        </p:nvSpPr>
        <p:spPr>
          <a:xfrm flipH="false" flipV="false" rot="0">
            <a:off x="914400" y="1768332"/>
            <a:ext cx="13568048" cy="7174105"/>
          </a:xfrm>
          <a:custGeom>
            <a:avLst/>
            <a:gdLst/>
            <a:ahLst/>
            <a:cxnLst/>
            <a:rect r="r" b="b" t="t" l="l"/>
            <a:pathLst>
              <a:path h="7174105" w="13568048">
                <a:moveTo>
                  <a:pt x="0" y="0"/>
                </a:moveTo>
                <a:lnTo>
                  <a:pt x="13568048" y="0"/>
                </a:lnTo>
                <a:lnTo>
                  <a:pt x="13568048" y="7174106"/>
                </a:lnTo>
                <a:lnTo>
                  <a:pt x="0" y="7174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7700"/>
            <a:ext cx="16459200" cy="1438275"/>
            <a:chOff x="0" y="0"/>
            <a:chExt cx="21945600" cy="1917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ALG 1 · CRITIQUE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STRENGTHS - WEAKNESS - BEST USE CASE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905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1221740"/>
              <a:ext cx="19050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Simplicity is Both Strength and Bottleneck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667000"/>
            <a:ext cx="5287686" cy="5505450"/>
            <a:chOff x="0" y="0"/>
            <a:chExt cx="7050248" cy="73406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050248" cy="7340600"/>
              <a:chOff x="0" y="0"/>
              <a:chExt cx="6098831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09883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098830">
                    <a:moveTo>
                      <a:pt x="0" y="0"/>
                    </a:moveTo>
                    <a:lnTo>
                      <a:pt x="6098830" y="0"/>
                    </a:lnTo>
                    <a:lnTo>
                      <a:pt x="609883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102B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098831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32094" y="705485"/>
              <a:ext cx="5986060" cy="404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0"/>
                </a:lnSpc>
                <a:spcBef>
                  <a:spcPct val="0"/>
                </a:spcBef>
              </a:pPr>
              <a:r>
                <a:rPr lang="en-US" b="true" sz="1907" spc="228" strike="noStrike" u="none">
                  <a:solidFill>
                    <a:srgbClr val="C4F7C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STRENGTHS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32094" y="2543429"/>
              <a:ext cx="5986060" cy="1118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77"/>
                </a:lnSpc>
                <a:spcBef>
                  <a:spcPct val="0"/>
                </a:spcBef>
              </a:pPr>
              <a:r>
                <a:rPr lang="en-US" b="true" sz="3121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Ultra-fast execution</a:t>
              </a:r>
            </a:p>
            <a:p>
              <a:pPr algn="l" marL="0" indent="0" lvl="0">
                <a:lnSpc>
                  <a:spcPts val="3277"/>
                </a:lnSpc>
                <a:spcBef>
                  <a:spcPct val="0"/>
                </a:spcBef>
              </a:pPr>
              <a:r>
                <a:rPr lang="en-US" b="true" sz="3121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Minimal computation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72250" y="2667000"/>
            <a:ext cx="5054030" cy="5505450"/>
            <a:chOff x="0" y="0"/>
            <a:chExt cx="6738707" cy="73406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738707" cy="7340600"/>
              <a:chOff x="0" y="0"/>
              <a:chExt cx="6284019" cy="68453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284019" cy="6845300"/>
              </a:xfrm>
              <a:custGeom>
                <a:avLst/>
                <a:gdLst/>
                <a:ahLst/>
                <a:cxnLst/>
                <a:rect r="r" b="b" t="t" l="l"/>
                <a:pathLst>
                  <a:path h="6845300" w="6284019">
                    <a:moveTo>
                      <a:pt x="0" y="0"/>
                    </a:moveTo>
                    <a:lnTo>
                      <a:pt x="6284019" y="0"/>
                    </a:lnTo>
                    <a:lnTo>
                      <a:pt x="6284019" y="6845300"/>
                    </a:lnTo>
                    <a:lnTo>
                      <a:pt x="0" y="6845300"/>
                    </a:lnTo>
                    <a:close/>
                  </a:path>
                </a:pathLst>
              </a:custGeom>
              <a:solidFill>
                <a:srgbClr val="102B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284019" cy="6883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08582" y="652371"/>
              <a:ext cx="5721544" cy="377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77"/>
                </a:lnSpc>
                <a:spcBef>
                  <a:spcPct val="0"/>
                </a:spcBef>
              </a:pPr>
              <a:r>
                <a:rPr lang="en-US" b="true" sz="1769" spc="212" strike="noStrike" u="none">
                  <a:solidFill>
                    <a:srgbClr val="92EE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WEAKNESSES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08582" y="2353317"/>
              <a:ext cx="5721544" cy="1632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9"/>
                </a:lnSpc>
                <a:spcBef>
                  <a:spcPct val="0"/>
                </a:spcBef>
              </a:pPr>
              <a:r>
                <a:rPr lang="en-US" b="true" sz="3056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Static threshold</a:t>
              </a:r>
            </a:p>
            <a:p>
              <a:pPr algn="l" marL="0" indent="0" lvl="0">
                <a:lnSpc>
                  <a:spcPts val="3209"/>
                </a:lnSpc>
                <a:spcBef>
                  <a:spcPct val="0"/>
                </a:spcBef>
              </a:pPr>
              <a:r>
                <a:rPr lang="en-US" b="true" sz="3056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Zero adaptation to noise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59655" y="2667000"/>
            <a:ext cx="5048250" cy="5505450"/>
            <a:chOff x="0" y="0"/>
            <a:chExt cx="6731000" cy="73406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731000" cy="7340600"/>
              <a:chOff x="0" y="0"/>
              <a:chExt cx="6731000" cy="73406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731000" cy="7340600"/>
              </a:xfrm>
              <a:custGeom>
                <a:avLst/>
                <a:gdLst/>
                <a:ahLst/>
                <a:cxnLst/>
                <a:rect r="r" b="b" t="t" l="l"/>
                <a:pathLst>
                  <a:path h="73406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7340600"/>
                    </a:lnTo>
                    <a:lnTo>
                      <a:pt x="0" y="7340600"/>
                    </a:lnTo>
                    <a:close/>
                  </a:path>
                </a:pathLst>
              </a:custGeom>
              <a:solidFill>
                <a:srgbClr val="102B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731000" cy="7378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08000" y="596900"/>
              <a:ext cx="571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BEST USE CASE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08000" y="2206625"/>
              <a:ext cx="5715000" cy="2005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2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Embedded microcontrollers</a:t>
              </a:r>
            </a:p>
            <a:p>
              <a:pPr algn="l" marL="0" indent="0" lvl="0">
                <a:lnSpc>
                  <a:spcPts val="2992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Stationary noise conditions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620250" y="15811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98" strike="noStrike" u="none">
                <a:solidFill>
                  <a:srgbClr val="30A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STUDENT 2 · ALGORITHM 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20250" y="2571750"/>
            <a:ext cx="7620000" cy="174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72"/>
              </a:lnSpc>
              <a:spcBef>
                <a:spcPct val="0"/>
              </a:spcBef>
            </a:pPr>
            <a:r>
              <a:rPr lang="en-US" b="true" sz="645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ADAPTIVE</a:t>
            </a:r>
          </a:p>
          <a:p>
            <a:pPr algn="l" marL="0" indent="0" lvl="0">
              <a:lnSpc>
                <a:spcPts val="6772"/>
              </a:lnSpc>
              <a:spcBef>
                <a:spcPct val="0"/>
              </a:spcBef>
            </a:pPr>
            <a:r>
              <a:rPr lang="en-US" b="true" sz="645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HISTOGRAM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20250" y="4953000"/>
            <a:ext cx="6858000" cy="783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7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Giannakopoulos (2014) · W-Weighted Valley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20250" y="6172200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Objective: Dynamic threshold per utterance</a:t>
            </a:r>
          </a:p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via local energy histogram peaks.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ALG 2 · CORE METHOD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Unsupervised Dual-Peak Energy Histogram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81050" y="3333750"/>
            <a:ext cx="2238375" cy="1428750"/>
            <a:chOff x="0" y="0"/>
            <a:chExt cx="29845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Extract STE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Norm Array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0194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3638550" y="3333750"/>
            <a:ext cx="2238375" cy="1428750"/>
            <a:chOff x="0" y="0"/>
            <a:chExt cx="29845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100 Bins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Histogram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8769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6496050" y="3333750"/>
            <a:ext cx="2238375" cy="1428750"/>
            <a:chOff x="0" y="0"/>
            <a:chExt cx="29845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5-Bin Moving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Average Filter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7344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9353550" y="3333750"/>
            <a:ext cx="2238375" cy="1428750"/>
            <a:chOff x="0" y="0"/>
            <a:chExt cx="29845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Locate Peaks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M1 and M2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5919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2211050" y="3333750"/>
            <a:ext cx="2238375" cy="1428750"/>
            <a:chOff x="0" y="0"/>
            <a:chExt cx="2984500" cy="190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Compute T =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(5*M1 + M2)/6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44494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5068550" y="3333750"/>
            <a:ext cx="2238375" cy="1428750"/>
            <a:chOff x="0" y="0"/>
            <a:chExt cx="2984500" cy="190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C4F7CA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Bridge Silences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&lt; 200 ms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14500" y="6162675"/>
            <a:ext cx="6667500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M1: Silence Noise Peak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06000" y="6162675"/>
            <a:ext cx="6667500" cy="38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M2: Speech Energy Peak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57500" y="7334250"/>
            <a:ext cx="12573000" cy="38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7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Unsupervised thresholding: zero ground-truth required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ALG 2 · EXPERIMENTS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Adaptive to Noise, but Truncates Unvoiced Consonants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58040" y="1377010"/>
            <a:ext cx="12622381" cy="781873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2573000" y="2952750"/>
            <a:ext cx="4381500" cy="5225415"/>
            <a:chOff x="0" y="0"/>
            <a:chExt cx="5842000" cy="69672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71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TRUNCATION BIAS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00100"/>
              <a:ext cx="5842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Weight W=5 raises threshold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Cuts low-energy trail consonants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187950"/>
              <a:ext cx="5842000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92EE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Refined baseline: T ≈ 0.012 - 0.027</a:t>
              </a:r>
            </a:p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92EE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MAE drops from 46.2 ms → 17.5 ms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name="Freeform 13" id="13" descr="Đồ thị phân đoạn 4 tệp kiểm thử TT2 Histogram (phone_F2, phone_M2, studio_F2, studio_M2)"/>
          <p:cNvSpPr/>
          <p:nvPr/>
        </p:nvSpPr>
        <p:spPr>
          <a:xfrm flipH="false" flipV="false" rot="0">
            <a:off x="914400" y="2095500"/>
            <a:ext cx="11239500" cy="7096125"/>
          </a:xfrm>
          <a:custGeom>
            <a:avLst/>
            <a:gdLst/>
            <a:ahLst/>
            <a:cxnLst/>
            <a:rect r="r" b="b" t="t" l="l"/>
            <a:pathLst>
              <a:path h="7096125" w="11239500">
                <a:moveTo>
                  <a:pt x="0" y="0"/>
                </a:moveTo>
                <a:lnTo>
                  <a:pt x="11239500" y="0"/>
                </a:lnTo>
                <a:lnTo>
                  <a:pt x="11239500" y="7096125"/>
                </a:lnTo>
                <a:lnTo>
                  <a:pt x="0" y="7096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519" t="-1521" r="-11519" b="-1521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ALG 2 · OPTIMIZATION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Adaptive Weight W Tuning for Studio Acoustics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47750" y="4953000"/>
            <a:ext cx="2571750" cy="1381125"/>
            <a:chOff x="0" y="0"/>
            <a:chExt cx="3429000" cy="1841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1756833"/>
                  </a:lnTo>
                  <a:cubicBezTo>
                    <a:pt x="3429000" y="1803593"/>
                    <a:pt x="3391093" y="1841500"/>
                    <a:pt x="3344333" y="1841500"/>
                  </a:cubicBezTo>
                  <a:lnTo>
                    <a:pt x="84667" y="1841500"/>
                  </a:lnTo>
                  <a:cubicBezTo>
                    <a:pt x="37907" y="1841500"/>
                    <a:pt x="0" y="1803593"/>
                    <a:pt x="0" y="1756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3429000" cy="182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Measure Noise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Floor Variance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619500" y="5638800"/>
            <a:ext cx="796236" cy="148926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4381500" y="4933950"/>
            <a:ext cx="2571750" cy="1381125"/>
            <a:chOff x="0" y="0"/>
            <a:chExt cx="3429000" cy="184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29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1756833"/>
                  </a:lnTo>
                  <a:cubicBezTo>
                    <a:pt x="3429000" y="1803593"/>
                    <a:pt x="3391093" y="1841500"/>
                    <a:pt x="3344333" y="1841500"/>
                  </a:cubicBezTo>
                  <a:lnTo>
                    <a:pt x="84667" y="1841500"/>
                  </a:lnTo>
                  <a:cubicBezTo>
                    <a:pt x="37907" y="1841500"/>
                    <a:pt x="0" y="1803593"/>
                    <a:pt x="0" y="1756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C4F7C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3429000" cy="182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Clean Studio?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6953250" y="5638800"/>
            <a:ext cx="666750" cy="62602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7715250" y="4953000"/>
            <a:ext cx="2571750" cy="1381125"/>
            <a:chOff x="0" y="0"/>
            <a:chExt cx="3429000" cy="1841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9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1756833"/>
                  </a:lnTo>
                  <a:cubicBezTo>
                    <a:pt x="3429000" y="1803593"/>
                    <a:pt x="3391093" y="1841500"/>
                    <a:pt x="3344333" y="1841500"/>
                  </a:cubicBezTo>
                  <a:lnTo>
                    <a:pt x="84667" y="1841500"/>
                  </a:lnTo>
                  <a:cubicBezTo>
                    <a:pt x="37907" y="1841500"/>
                    <a:pt x="0" y="1803593"/>
                    <a:pt x="0" y="1756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3429000" cy="182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Increase W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 High Noise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287000" y="5638800"/>
            <a:ext cx="666750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1049000" y="4953000"/>
            <a:ext cx="2571750" cy="1381125"/>
            <a:chOff x="0" y="0"/>
            <a:chExt cx="3429000" cy="184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29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1756833"/>
                  </a:lnTo>
                  <a:cubicBezTo>
                    <a:pt x="3429000" y="1803593"/>
                    <a:pt x="3391093" y="1841500"/>
                    <a:pt x="3344333" y="1841500"/>
                  </a:cubicBezTo>
                  <a:lnTo>
                    <a:pt x="84667" y="1841500"/>
                  </a:lnTo>
                  <a:cubicBezTo>
                    <a:pt x="37907" y="1841500"/>
                    <a:pt x="0" y="1803593"/>
                    <a:pt x="0" y="1756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3429000" cy="182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Decrease W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 Clean Audio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3620750" y="5638800"/>
            <a:ext cx="666750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4382750" y="4953000"/>
            <a:ext cx="2571750" cy="1381125"/>
            <a:chOff x="0" y="0"/>
            <a:chExt cx="34290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29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1756833"/>
                  </a:lnTo>
                  <a:cubicBezTo>
                    <a:pt x="3429000" y="1803593"/>
                    <a:pt x="3391093" y="1841500"/>
                    <a:pt x="3344333" y="1841500"/>
                  </a:cubicBezTo>
                  <a:lnTo>
                    <a:pt x="84667" y="1841500"/>
                  </a:lnTo>
                  <a:cubicBezTo>
                    <a:pt x="37907" y="1841500"/>
                    <a:pt x="0" y="1803593"/>
                    <a:pt x="0" y="17568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3429000" cy="182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Preserve Weak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Consonants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857500" y="7496175"/>
            <a:ext cx="12573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5"/>
              </a:lnSpc>
              <a:spcBef>
                <a:spcPct val="0"/>
              </a:spcBef>
            </a:pPr>
            <a:r>
              <a:rPr lang="en-US" sz="25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Engineering Value: Trade-off Between Noise Rejection &amp; Phoneme Preservation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15811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98" strike="noStrike" u="none">
                <a:solidFill>
                  <a:srgbClr val="30A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STUDENT 3 · ALGORITHM 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571750"/>
            <a:ext cx="8096250" cy="174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72"/>
              </a:lnSpc>
              <a:spcBef>
                <a:spcPct val="0"/>
              </a:spcBef>
            </a:pPr>
            <a:r>
              <a:rPr lang="en-US" b="true" sz="645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GAUSSIAN</a:t>
            </a:r>
          </a:p>
          <a:p>
            <a:pPr algn="l" marL="0" indent="0" lvl="0">
              <a:lnSpc>
                <a:spcPts val="6772"/>
              </a:lnSpc>
              <a:spcBef>
                <a:spcPct val="0"/>
              </a:spcBef>
            </a:pPr>
            <a:r>
              <a:rPr lang="en-US" b="true" sz="645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BAYES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4943475"/>
            <a:ext cx="8096250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Simple Statistics · Analytical Bayes Separation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6172200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Objective: Parametric Gaussian modeling</a:t>
            </a:r>
          </a:p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for optimal statistical separation.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ALG 3 · CORE METHOD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Empirical Statistics to Analytical Bayes Root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81050" y="3333750"/>
            <a:ext cx="2238375" cy="1428750"/>
            <a:chOff x="0" y="0"/>
            <a:chExt cx="29845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Extract STE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from Train Set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0194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3638550" y="3333750"/>
            <a:ext cx="2238375" cy="1428750"/>
            <a:chOff x="0" y="0"/>
            <a:chExt cx="29845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Label Frames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via Ground-Truth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8769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6496050" y="3333750"/>
            <a:ext cx="2238375" cy="1428750"/>
            <a:chOff x="0" y="0"/>
            <a:chExt cx="29845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Estimate μ, σ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for Sil &amp; Speech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7344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9353550" y="3333750"/>
            <a:ext cx="2238375" cy="1428750"/>
            <a:chOff x="0" y="0"/>
            <a:chExt cx="29845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Quadratic Eq: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A*x^2 + B*x + C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5919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2211050" y="3333750"/>
            <a:ext cx="2238375" cy="1428750"/>
            <a:chOff x="0" y="0"/>
            <a:chExt cx="2984500" cy="1905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C4F7CA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Solve for Root: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T_Bayes ≈ 0.0020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4449425" y="4048125"/>
            <a:ext cx="523875" cy="0"/>
          </a:xfrm>
          <a:prstGeom prst="line">
            <a:avLst/>
          </a:prstGeom>
          <a:ln cap="rnd" w="38100">
            <a:solidFill>
              <a:srgbClr val="30A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5068550" y="3333750"/>
            <a:ext cx="2238375" cy="1428750"/>
            <a:chOff x="0" y="0"/>
            <a:chExt cx="2984500" cy="1905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84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984500">
                  <a:moveTo>
                    <a:pt x="97277" y="0"/>
                  </a:moveTo>
                  <a:lnTo>
                    <a:pt x="2887223" y="0"/>
                  </a:lnTo>
                  <a:cubicBezTo>
                    <a:pt x="2940948" y="0"/>
                    <a:pt x="2984500" y="43552"/>
                    <a:pt x="2984500" y="97277"/>
                  </a:cubicBezTo>
                  <a:lnTo>
                    <a:pt x="2984500" y="1807723"/>
                  </a:lnTo>
                  <a:cubicBezTo>
                    <a:pt x="2984500" y="1861448"/>
                    <a:pt x="2940948" y="1905000"/>
                    <a:pt x="2887223" y="1905000"/>
                  </a:cubicBezTo>
                  <a:lnTo>
                    <a:pt x="97277" y="1905000"/>
                  </a:lnTo>
                  <a:cubicBezTo>
                    <a:pt x="43552" y="1905000"/>
                    <a:pt x="0" y="1861448"/>
                    <a:pt x="0" y="1807723"/>
                  </a:cubicBezTo>
                  <a:lnTo>
                    <a:pt x="0" y="97277"/>
                  </a:lnTo>
                  <a:cubicBezTo>
                    <a:pt x="0" y="43552"/>
                    <a:pt x="43552" y="0"/>
                    <a:pt x="97277" y="0"/>
                  </a:cubicBezTo>
                  <a:close/>
                </a:path>
              </a:pathLst>
            </a:custGeom>
            <a:solidFill>
              <a:srgbClr val="92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29845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Post-Process</a:t>
              </a:r>
            </a:p>
            <a:p>
              <a:pPr algn="ctr" marL="0" indent="0" lvl="0">
                <a:lnSpc>
                  <a:spcPts val="2062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7192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200ms Hangover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14500" y="6648450"/>
            <a:ext cx="14859000" cy="34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Equiprobable Bayes Intersection: p(x | Silence) = p(x | Speech)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ALG 3 · EXPERIMENTS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High Accuracy on Test Data (MAE = 11.25 ms)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9896" y="1384651"/>
            <a:ext cx="12486092" cy="7803447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2573000" y="2952750"/>
            <a:ext cx="4476750" cy="5225415"/>
            <a:chOff x="0" y="0"/>
            <a:chExt cx="5969000" cy="69672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33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THEORETICAL CRITIQUE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00100"/>
              <a:ext cx="5969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Energy is non-negative and skewed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Gaussian assumption is physically flawed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187950"/>
              <a:ext cx="5969000" cy="1779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92EE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Yet empirical boundary works</a:t>
              </a:r>
            </a:p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92EE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because separation occurs in low tail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STUDENT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name="Freeform 13" id="13" descr="Đồ thị phân đoạn 4 tệp kiểm thử TT3 Gaussian Bayes (phone_F2, phone_M2, studio_F2, studio_M2)"/>
          <p:cNvSpPr/>
          <p:nvPr/>
        </p:nvSpPr>
        <p:spPr>
          <a:xfrm flipH="false" flipV="false" rot="0">
            <a:off x="914400" y="2095500"/>
            <a:ext cx="11239500" cy="7096125"/>
          </a:xfrm>
          <a:custGeom>
            <a:avLst/>
            <a:gdLst/>
            <a:ahLst/>
            <a:cxnLst/>
            <a:rect r="r" b="b" t="t" l="l"/>
            <a:pathLst>
              <a:path h="7096125" w="11239500">
                <a:moveTo>
                  <a:pt x="0" y="0"/>
                </a:moveTo>
                <a:lnTo>
                  <a:pt x="11239500" y="0"/>
                </a:lnTo>
                <a:lnTo>
                  <a:pt x="11239500" y="7096125"/>
                </a:lnTo>
                <a:lnTo>
                  <a:pt x="0" y="7096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519" t="-1521" r="-11519" b="-1521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3302000" cy="24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74"/>
                </a:lnSpc>
                <a:spcBef>
                  <a:spcPct val="0"/>
                </a:spcBef>
              </a:pPr>
              <a:r>
                <a:rPr lang="en-US" b="true" sz="1125" spc="135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BENCHMARK · 4 TEST FILES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Empirical Benchmark: MAE &amp; RMSE Comparison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7800" y="1370939"/>
            <a:ext cx="12271400" cy="783087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049250" y="2819400"/>
            <a:ext cx="1143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0A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TT1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9250" y="3267075"/>
            <a:ext cx="4000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MAE: 8.75 ms (TT1/1)</a:t>
            </a:r>
          </a:p>
          <a:p>
            <a:pPr algn="l" marL="0" indent="0" lvl="0">
              <a:lnSpc>
                <a:spcPts val="273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6.25 ms (TT1/2 Best) · Static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49250" y="5010150"/>
            <a:ext cx="1143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92EE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TT2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9250" y="5457825"/>
            <a:ext cx="4000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MAE: 17.50 ms (TT2/1)</a:t>
            </a:r>
          </a:p>
          <a:p>
            <a:pPr algn="l" marL="0" indent="0" lvl="0">
              <a:lnSpc>
                <a:spcPts val="273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20.00 ms (TT2/2) · Adaptive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49250" y="7200900"/>
            <a:ext cx="1143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C4F7C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TT3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49250" y="7648575"/>
            <a:ext cx="4000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MAE: 11.25 ms (TT3/1)</a:t>
            </a:r>
          </a:p>
          <a:p>
            <a:pPr algn="l" marL="0" indent="0" lvl="0">
              <a:lnSpc>
                <a:spcPts val="273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15.00 ms (TT3/2) · Gauss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GROUP 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name="Freeform 15" id="15" descr="Biểu đồ và bảng số liệu so sánh định lượng Benchmark 3 thuật toán cập nhật"/>
          <p:cNvSpPr/>
          <p:nvPr/>
        </p:nvSpPr>
        <p:spPr>
          <a:xfrm flipH="false" flipV="false" rot="0">
            <a:off x="914400" y="1820813"/>
            <a:ext cx="11652789" cy="7312125"/>
          </a:xfrm>
          <a:custGeom>
            <a:avLst/>
            <a:gdLst/>
            <a:ahLst/>
            <a:cxnLst/>
            <a:rect r="r" b="b" t="t" l="l"/>
            <a:pathLst>
              <a:path h="7312125" w="11652789">
                <a:moveTo>
                  <a:pt x="0" y="0"/>
                </a:moveTo>
                <a:lnTo>
                  <a:pt x="11652789" y="0"/>
                </a:lnTo>
                <a:lnTo>
                  <a:pt x="11652789" y="7312124"/>
                </a:lnTo>
                <a:lnTo>
                  <a:pt x="0" y="7312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057275"/>
            <a:chOff x="0" y="0"/>
            <a:chExt cx="21945600" cy="1409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LIVE DEMO PROTOCOL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Four Screen Quadrants · Single-Run Verification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1397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2500" y="2476500"/>
            <a:ext cx="7810500" cy="2476500"/>
            <a:chOff x="0" y="0"/>
            <a:chExt cx="10414000" cy="3302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414000" cy="3302000"/>
              <a:chOff x="0" y="0"/>
              <a:chExt cx="10414000" cy="3302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41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41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· INPUT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8000" y="1371600"/>
              <a:ext cx="9144000" cy="471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Audio Waveform + Ground-Truth .lab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5000" y="2476500"/>
            <a:ext cx="7810500" cy="2476500"/>
            <a:chOff x="0" y="0"/>
            <a:chExt cx="10414000" cy="330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414000" cy="3302000"/>
              <a:chOff x="0" y="0"/>
              <a:chExt cx="10414000" cy="3302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1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41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· ENVIRONMENT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000" y="1371600"/>
              <a:ext cx="9144000" cy="471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Setup &amp; Run: uv run jupyter lab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5619750"/>
            <a:ext cx="7810500" cy="2476500"/>
            <a:chOff x="0" y="0"/>
            <a:chExt cx="10414000" cy="3302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414000" cy="3302000"/>
              <a:chOff x="0" y="0"/>
              <a:chExt cx="10414000" cy="3302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1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41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· NOTEBOOKS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8000" y="1371600"/>
              <a:ext cx="9144000" cy="471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Restart &amp; Run: TT1, TT2, TT3 (1 &amp; 2)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25000" y="5619750"/>
            <a:ext cx="7810500" cy="2476500"/>
            <a:chOff x="0" y="0"/>
            <a:chExt cx="10414000" cy="3302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414000" cy="3302000"/>
              <a:chOff x="0" y="0"/>
              <a:chExt cx="10414000" cy="3302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414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C4F7CA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0414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· EVALUATION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08000" y="1371600"/>
              <a:ext cx="9144000" cy="471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Inline 4 Figures &amp; metrics.json Output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GROUP 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20015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98" strike="noStrike" u="none">
                <a:solidFill>
                  <a:srgbClr val="30A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2276475"/>
            <a:ext cx="14763750" cy="1669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7"/>
              </a:lnSpc>
              <a:spcBef>
                <a:spcPct val="0"/>
              </a:spcBef>
            </a:pPr>
            <a:r>
              <a:rPr lang="en-US" b="true" sz="615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SINGLE THRESHOLD</a:t>
            </a:r>
          </a:p>
          <a:p>
            <a:pPr algn="l" marL="0" indent="0" lvl="0">
              <a:lnSpc>
                <a:spcPts val="6457"/>
              </a:lnSpc>
              <a:spcBef>
                <a:spcPct val="0"/>
              </a:spcBef>
            </a:pPr>
            <a:r>
              <a:rPr lang="en-US" b="true" sz="6150" strike="noStrike" u="none">
                <a:solidFill>
                  <a:srgbClr val="F5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FITS ALL NOISE FLOORS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5038725"/>
            <a:ext cx="15240000" cy="34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TT1: Baseline Benchmark · TT2: Adaptive Heuristic · TT3: Statistical Bayes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7086600"/>
            <a:ext cx="66675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50"/>
              </a:lnSpc>
              <a:spcBef>
                <a:spcPct val="0"/>
              </a:spcBef>
            </a:pPr>
            <a:r>
              <a:rPr lang="en-US" b="true" sz="9000" strike="noStrike" u="none">
                <a:solidFill>
                  <a:srgbClr val="C4F7C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 &amp; 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9500" y="8553450"/>
            <a:ext cx="5905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5FBFF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Attention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GROUP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50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533525"/>
            <a:chOff x="0" y="0"/>
            <a:chExt cx="21945600" cy="2044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935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PHỤ LỤC 01 · TIỀN XỬ LÝ &amp; BỘ THAM SỐ CHUẨN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49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Tham Số Phân Khung &amp; Quy Tắc Khử Khoảng Lặng Ảo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2032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2500" y="2476500"/>
            <a:ext cx="7810500" cy="3476625"/>
            <a:chOff x="0" y="0"/>
            <a:chExt cx="10414000" cy="4635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414000" cy="4635500"/>
              <a:chOff x="0" y="0"/>
              <a:chExt cx="10414000" cy="4635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414000" cy="4635500"/>
              </a:xfrm>
              <a:custGeom>
                <a:avLst/>
                <a:gdLst/>
                <a:ahLst/>
                <a:cxnLst/>
                <a:rect r="r" b="b" t="t" l="l"/>
                <a:pathLst>
                  <a:path h="4635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4635500"/>
                    </a:lnTo>
                    <a:lnTo>
                      <a:pt x="0" y="46355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414000" cy="467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 · PHÂN KHUNG TÍN HIỆU (FRAMING)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8000" y="1371600"/>
              <a:ext cx="9144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Fs = 16 kHz · Chiều dài khung = 20 ms (320 mẫu)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Bước nhảy hop = 10 ms (160 mẫu) · Chồng lặp 50%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5000" y="2476500"/>
            <a:ext cx="7810500" cy="3476625"/>
            <a:chOff x="0" y="0"/>
            <a:chExt cx="10414000" cy="4635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414000" cy="4635500"/>
              <a:chOff x="0" y="0"/>
              <a:chExt cx="10414000" cy="4635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14000" cy="4635500"/>
              </a:xfrm>
              <a:custGeom>
                <a:avLst/>
                <a:gdLst/>
                <a:ahLst/>
                <a:cxnLst/>
                <a:rect r="r" b="b" t="t" l="l"/>
                <a:pathLst>
                  <a:path h="4635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4635500"/>
                    </a:lnTo>
                    <a:lnTo>
                      <a:pt x="0" y="46355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414000" cy="467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 · KHOẢNG LẶNG TỐI THIỂU (200 MS)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000" y="1371600"/>
              <a:ext cx="9144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Loại bỏ khoảng lặng ảo ngắn &lt; 200 ms (20 khung)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Bắc cầu (bridge) các đoạn ngắt luồng hơi âm tắc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5619750"/>
            <a:ext cx="7810500" cy="3476625"/>
            <a:chOff x="0" y="0"/>
            <a:chExt cx="10414000" cy="4635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414000" cy="4635500"/>
              <a:chOff x="0" y="0"/>
              <a:chExt cx="10414000" cy="4635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14000" cy="4635500"/>
              </a:xfrm>
              <a:custGeom>
                <a:avLst/>
                <a:gdLst/>
                <a:ahLst/>
                <a:cxnLst/>
                <a:rect r="r" b="b" t="t" l="l"/>
                <a:pathLst>
                  <a:path h="4635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4635500"/>
                    </a:lnTo>
                    <a:lnTo>
                      <a:pt x="0" y="46355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414000" cy="467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 · TIẾNG NÓI TỐI THIỂU (50 MS)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8000" y="1371600"/>
              <a:ext cx="9144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Thời lượng phát âm tối thiểu = 50 ms (5 khung)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Khử triệt để nhiễu xung (click, pop, tiếng va chạm)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25000" y="5619750"/>
            <a:ext cx="7810500" cy="3476625"/>
            <a:chOff x="0" y="0"/>
            <a:chExt cx="10414000" cy="46355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414000" cy="4635500"/>
              <a:chOff x="0" y="0"/>
              <a:chExt cx="10414000" cy="4635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414000" cy="4635500"/>
              </a:xfrm>
              <a:custGeom>
                <a:avLst/>
                <a:gdLst/>
                <a:ahLst/>
                <a:cxnLst/>
                <a:rect r="r" b="b" t="t" l="l"/>
                <a:pathLst>
                  <a:path h="4635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4635500"/>
                    </a:lnTo>
                    <a:lnTo>
                      <a:pt x="0" y="46355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C4F7CA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0414000" cy="467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 · CHUẨN HÓA NĂNG LƯỢNG STE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08000" y="1371600"/>
              <a:ext cx="9144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Normalized STE = STE / max(STE) cho từng file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Đưa miền giá trị về [0, 1] để áp dụng ngưỡng chung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PHỤ LỤC THỰC NGHIỆM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733550"/>
            <a:chOff x="0" y="0"/>
            <a:chExt cx="21945600" cy="2311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3302000" cy="514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74"/>
                </a:lnSpc>
                <a:spcBef>
                  <a:spcPct val="0"/>
                </a:spcBef>
              </a:pPr>
              <a:r>
                <a:rPr lang="en-US" b="true" sz="1125" spc="135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PHỤ LỤC 02 · KẾT QUẢ HUẤN LUYỆN TT1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81050"/>
              <a:ext cx="19050000" cy="1304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Minh Chứng Hội Tụ Tìm Kiếm Nhị Phân 40 Bước Lặp (CS425)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22987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PHỤ LỤC THỰC NGHIỆM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  <p:sp>
        <p:nvSpPr>
          <p:cNvPr name="Freeform 8" id="8" descr="Biểu đồ hội tụ nhị phân TT1"/>
          <p:cNvSpPr/>
          <p:nvPr/>
        </p:nvSpPr>
        <p:spPr>
          <a:xfrm flipH="false" flipV="false" rot="0">
            <a:off x="914400" y="2744005"/>
            <a:ext cx="16344900" cy="6374511"/>
          </a:xfrm>
          <a:custGeom>
            <a:avLst/>
            <a:gdLst/>
            <a:ahLst/>
            <a:cxnLst/>
            <a:rect r="r" b="b" t="t" l="l"/>
            <a:pathLst>
              <a:path h="6374511" w="16344900">
                <a:moveTo>
                  <a:pt x="0" y="0"/>
                </a:moveTo>
                <a:lnTo>
                  <a:pt x="16344900" y="0"/>
                </a:lnTo>
                <a:lnTo>
                  <a:pt x="16344900" y="6374511"/>
                </a:lnTo>
                <a:lnTo>
                  <a:pt x="0" y="6374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733550"/>
            <a:chOff x="0" y="0"/>
            <a:chExt cx="21945600" cy="2311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3302000" cy="514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74"/>
                </a:lnSpc>
                <a:spcBef>
                  <a:spcPct val="0"/>
                </a:spcBef>
              </a:pPr>
              <a:r>
                <a:rPr lang="en-US" b="true" sz="1125" spc="135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PHỤ LỤC 03 · KẾT QUẢ HUẤN LUYỆN TT2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81050"/>
              <a:ext cx="19050000" cy="1304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Minh Chứng Histogram 2 Đỉnh Năng Lượng Trên 4 File Huấn Luyện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22987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PHỤ LỤC THỰC NGHIỆM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</p:txBody>
      </p:sp>
      <p:sp>
        <p:nvSpPr>
          <p:cNvPr name="Freeform 8" id="8" descr="Biểu đồ Histogram 2 đỉnh TT2"/>
          <p:cNvSpPr/>
          <p:nvPr/>
        </p:nvSpPr>
        <p:spPr>
          <a:xfrm flipH="false" flipV="false" rot="0">
            <a:off x="3317523" y="2284069"/>
            <a:ext cx="11652953" cy="7357161"/>
          </a:xfrm>
          <a:custGeom>
            <a:avLst/>
            <a:gdLst/>
            <a:ahLst/>
            <a:cxnLst/>
            <a:rect r="r" b="b" t="t" l="l"/>
            <a:pathLst>
              <a:path h="7357161" w="11652953">
                <a:moveTo>
                  <a:pt x="0" y="0"/>
                </a:moveTo>
                <a:lnTo>
                  <a:pt x="11652954" y="0"/>
                </a:lnTo>
                <a:lnTo>
                  <a:pt x="11652954" y="7357162"/>
                </a:lnTo>
                <a:lnTo>
                  <a:pt x="0" y="7357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9" r="0" b="-189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733550"/>
            <a:chOff x="0" y="0"/>
            <a:chExt cx="21945600" cy="2311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3302000" cy="514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74"/>
                </a:lnSpc>
                <a:spcBef>
                  <a:spcPct val="0"/>
                </a:spcBef>
              </a:pPr>
              <a:r>
                <a:rPr lang="en-US" b="true" sz="1125" spc="135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PHỤ LỤC 04 · KẾT QUẢ HUẤN LUYỆN TT3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81050"/>
              <a:ext cx="19050000" cy="1304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Minh Chứng Phân Phối Gauss Khung Âm &amp; Giao Điểm Bayes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22987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PHỤ LỤC THỰC NGHIỆM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</a:p>
        </p:txBody>
      </p:sp>
      <p:sp>
        <p:nvSpPr>
          <p:cNvPr name="Freeform 8" id="8" descr="Biểu đồ phân phối Gauss TT3"/>
          <p:cNvSpPr/>
          <p:nvPr/>
        </p:nvSpPr>
        <p:spPr>
          <a:xfrm flipH="false" flipV="false" rot="0">
            <a:off x="914400" y="2526931"/>
            <a:ext cx="16344900" cy="6497098"/>
          </a:xfrm>
          <a:custGeom>
            <a:avLst/>
            <a:gdLst/>
            <a:ahLst/>
            <a:cxnLst/>
            <a:rect r="r" b="b" t="t" l="l"/>
            <a:pathLst>
              <a:path h="6497098" w="16344900">
                <a:moveTo>
                  <a:pt x="0" y="0"/>
                </a:moveTo>
                <a:lnTo>
                  <a:pt x="16344900" y="0"/>
                </a:lnTo>
                <a:lnTo>
                  <a:pt x="16344900" y="6497097"/>
                </a:lnTo>
                <a:lnTo>
                  <a:pt x="0" y="6497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7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533525"/>
            <a:chOff x="0" y="0"/>
            <a:chExt cx="21945600" cy="2044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3302000" cy="935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89"/>
                </a:lnSpc>
                <a:spcBef>
                  <a:spcPct val="0"/>
                </a:spcBef>
              </a:pPr>
              <a:r>
                <a:rPr lang="en-US" b="true" sz="1350" spc="162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PHỤ LỤC 05 · ĐỐI THOẠI PHẢN BIỆN VẤN ĐÁP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49350"/>
              <a:ext cx="19050000" cy="669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Giải Trình Các Bẫy Câu Hỏi Lý Thuyết &amp; Thực Nghiệm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0" y="2032000"/>
              <a:ext cx="21945600" cy="0"/>
            </a:xfrm>
            <a:prstGeom prst="line">
              <a:avLst/>
            </a:prstGeom>
            <a:ln cap="flat" w="25400">
              <a:solidFill>
                <a:srgbClr val="30A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2500" y="2476500"/>
            <a:ext cx="7810500" cy="3476625"/>
            <a:chOff x="0" y="0"/>
            <a:chExt cx="10414000" cy="46355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414000" cy="4635500"/>
              <a:chOff x="0" y="0"/>
              <a:chExt cx="10414000" cy="46355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414000" cy="4635500"/>
              </a:xfrm>
              <a:custGeom>
                <a:avLst/>
                <a:gdLst/>
                <a:ahLst/>
                <a:cxnLst/>
                <a:rect r="r" b="b" t="t" l="l"/>
                <a:pathLst>
                  <a:path h="4635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4635500"/>
                    </a:lnTo>
                    <a:lnTo>
                      <a:pt x="0" y="46355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0414000" cy="467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Q1 · VÌ SAO KHÔNG DÙNG F0 ĐỂ CẮT BIÊN?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8000" y="1371600"/>
              <a:ext cx="9144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Phụ âm vô thanh (/s/, /f/, /t/) hoàn toàn không có pitch F0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Dùng F0 cắt biên sẽ làm mất phụ âm đầu và đuôi câu!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5000" y="2476500"/>
            <a:ext cx="7810500" cy="3476625"/>
            <a:chOff x="0" y="0"/>
            <a:chExt cx="10414000" cy="4635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414000" cy="4635500"/>
              <a:chOff x="0" y="0"/>
              <a:chExt cx="10414000" cy="4635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14000" cy="4635500"/>
              </a:xfrm>
              <a:custGeom>
                <a:avLst/>
                <a:gdLst/>
                <a:ahLst/>
                <a:cxnLst/>
                <a:rect r="r" b="b" t="t" l="l"/>
                <a:pathLst>
                  <a:path h="4635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4635500"/>
                    </a:lnTo>
                    <a:lnTo>
                      <a:pt x="0" y="46355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414000" cy="467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Q2 · VÌ SAO MAE ĐẠT ĐƯỢC 0.0 MS Ở PHONE_M2?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000" y="1371600"/>
              <a:ext cx="9144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Mốc .lab [0.53 s, 2.52 s] trùng khớp lưới hop 10 ms (khung 53, 252)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Đây là khớp khung hoàn hảo, không phải hiện tượng overfit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5953125"/>
            <a:ext cx="7810500" cy="3476625"/>
            <a:chOff x="0" y="0"/>
            <a:chExt cx="10414000" cy="4635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414000" cy="4635500"/>
              <a:chOff x="0" y="0"/>
              <a:chExt cx="10414000" cy="4635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14000" cy="4635500"/>
              </a:xfrm>
              <a:custGeom>
                <a:avLst/>
                <a:gdLst/>
                <a:ahLst/>
                <a:cxnLst/>
                <a:rect r="r" b="b" t="t" l="l"/>
                <a:pathLst>
                  <a:path h="4635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4635500"/>
                    </a:lnTo>
                    <a:lnTo>
                      <a:pt x="0" y="46355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414000" cy="467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Q3 · ẢNH HƯỞNG CỦA MỨC NHIỄU NỀN (SNR)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8000" y="1371600"/>
              <a:ext cx="9144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Studio (SNR cao): Năng lượng lặng cực thấp, sai số 5-10 ms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Phone (SNR thấp): Đuôi thở dễ chìm trong nhiễu nền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25000" y="5953125"/>
            <a:ext cx="7810500" cy="3476625"/>
            <a:chOff x="0" y="0"/>
            <a:chExt cx="10414000" cy="46355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414000" cy="4635500"/>
              <a:chOff x="0" y="0"/>
              <a:chExt cx="10414000" cy="4635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414000" cy="4635500"/>
              </a:xfrm>
              <a:custGeom>
                <a:avLst/>
                <a:gdLst/>
                <a:ahLst/>
                <a:cxnLst/>
                <a:rect r="r" b="b" t="t" l="l"/>
                <a:pathLst>
                  <a:path h="4635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4635500"/>
                    </a:lnTo>
                    <a:lnTo>
                      <a:pt x="0" y="4635500"/>
                    </a:lnTo>
                    <a:close/>
                  </a:path>
                </a:pathLst>
              </a:custGeom>
              <a:solidFill>
                <a:srgbClr val="102B38"/>
              </a:solidFill>
              <a:ln w="19050" cap="sq">
                <a:solidFill>
                  <a:srgbClr val="30A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0414000" cy="467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 marL="0" indent="0" lvl="0">
                  <a:lnSpc>
                    <a:spcPts val="16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08000" y="4064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30A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Q4 · VÌ SAO CHỌN GAUSS 1 CHIỀU CHO TT3?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08000" y="1371600"/>
              <a:ext cx="9144000" cy="180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Tập huấn luyện chỉ có 4 file (cỡ mẫu nhỏ N = 4)</a:t>
              </a:r>
            </a:p>
            <a:p>
              <a:pPr algn="l" marL="0" indent="0" lvl="0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F5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Gauss 1D STE ổn định nhất; ma trận đa chiều dễ bị quá khớp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725025"/>
            <a:ext cx="85725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DSP 2026  ·  PHỤ LỤC THỰC NGHIỆM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725025"/>
            <a:ext cx="762000" cy="21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7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92EE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DAHWjThhNx0</dc:identifier>
  <dcterms:modified xsi:type="dcterms:W3CDTF">2011-08-01T06:04:30Z</dcterms:modified>
  <cp:revision>1</cp:revision>
  <dc:title>Báo cáo VAD XLTHS</dc:title>
</cp:coreProperties>
</file>